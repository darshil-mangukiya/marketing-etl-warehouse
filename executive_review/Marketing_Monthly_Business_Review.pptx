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cb336d14d479f" /><Relationship Type="http://schemas.openxmlformats.org/officeDocument/2006/relationships/extended-properties" Target="/docProps/app.xml" Id="Rff99c4ebc1ca43d0" /><Relationship Type="http://schemas.openxmlformats.org/officeDocument/2006/relationships/officeDocument" Target="/ppt/presentation.xml" Id="R5837ed52e817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fe6480a5d4e9a"/>
  </p:sldMasterIdLst>
  <p:notesMasterIdLst>
    <p:notesMasterId xmlns:r="http://schemas.openxmlformats.org/officeDocument/2006/relationships" r:id="Rdd92da97d41b4011"/>
  </p:notesMasterIdLst>
  <p:sldIdLst>
    <p:sldId xmlns:r="http://schemas.openxmlformats.org/officeDocument/2006/relationships" id="256" r:id="R9baec3863d5340d2"/>
    <p:sldId xmlns:r="http://schemas.openxmlformats.org/officeDocument/2006/relationships" id="257" r:id="R8a332664fd4246ea"/>
    <p:sldId xmlns:r="http://schemas.openxmlformats.org/officeDocument/2006/relationships" id="258" r:id="R92f0d9d0cad94157"/>
    <p:sldId xmlns:r="http://schemas.openxmlformats.org/officeDocument/2006/relationships" id="259" r:id="R20126d1f3f624009"/>
    <p:sldId xmlns:r="http://schemas.openxmlformats.org/officeDocument/2006/relationships" id="260" r:id="Rd88260cd01ec405b"/>
    <p:sldId xmlns:r="http://schemas.openxmlformats.org/officeDocument/2006/relationships" id="261" r:id="R3783826fff9a4cda"/>
    <p:sldId xmlns:r="http://schemas.openxmlformats.org/officeDocument/2006/relationships" id="262" r:id="R0539fe42f79a4a49"/>
    <p:sldId xmlns:r="http://schemas.openxmlformats.org/officeDocument/2006/relationships" id="263" r:id="Re017e886c09f40d9"/>
    <p:sldId xmlns:r="http://schemas.openxmlformats.org/officeDocument/2006/relationships" id="264" r:id="R448648adc702409c"/>
    <p:sldId xmlns:r="http://schemas.openxmlformats.org/officeDocument/2006/relationships" id="265" r:id="R2da3952858684d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b71859e5c49ab" /><Relationship Type="http://schemas.openxmlformats.org/officeDocument/2006/relationships/slideMaster" Target="/ppt/slideMasters/slideMaster1.xml" Id="Ra0efe6480a5d4e9a" /><Relationship Type="http://schemas.openxmlformats.org/officeDocument/2006/relationships/notesMaster" Target="/ppt/notesMasters/notesMaster1.xml" Id="Rdd92da97d41b4011" /><Relationship Type="http://schemas.openxmlformats.org/officeDocument/2006/relationships/presProps" Target="/ppt/presProps.xml" Id="R25fd6e8357744db9" /><Relationship Type="http://schemas.openxmlformats.org/officeDocument/2006/relationships/tableStyles" Target="/ppt/tableStyles.xml" Id="R60e447cbbb184f9a" /><Relationship Type="http://schemas.openxmlformats.org/officeDocument/2006/relationships/slide" Target="/ppt/slides/slide1.xml" Id="R9baec3863d5340d2" /><Relationship Type="http://schemas.openxmlformats.org/officeDocument/2006/relationships/slide" Target="/ppt/slides/slide2.xml" Id="R8a332664fd4246ea" /><Relationship Type="http://schemas.openxmlformats.org/officeDocument/2006/relationships/slide" Target="/ppt/slides/slide3.xml" Id="R92f0d9d0cad94157" /><Relationship Type="http://schemas.openxmlformats.org/officeDocument/2006/relationships/slide" Target="/ppt/slides/slide4.xml" Id="R20126d1f3f624009" /><Relationship Type="http://schemas.openxmlformats.org/officeDocument/2006/relationships/slide" Target="/ppt/slides/slide5.xml" Id="Rd88260cd01ec405b" /><Relationship Type="http://schemas.openxmlformats.org/officeDocument/2006/relationships/slide" Target="/ppt/slides/slide6.xml" Id="R3783826fff9a4cda" /><Relationship Type="http://schemas.openxmlformats.org/officeDocument/2006/relationships/slide" Target="/ppt/slides/slide7.xml" Id="R0539fe42f79a4a49" /><Relationship Type="http://schemas.openxmlformats.org/officeDocument/2006/relationships/slide" Target="/ppt/slides/slide8.xml" Id="Re017e886c09f40d9" /><Relationship Type="http://schemas.openxmlformats.org/officeDocument/2006/relationships/slide" Target="/ppt/slides/slide9.xml" Id="R448648adc702409c" /><Relationship Type="http://schemas.openxmlformats.org/officeDocument/2006/relationships/slide" Target="/ppt/slides/slide10.xml" Id="R2da395285868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c5d166ca443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rtfolio Editorial">
  <a:themeElements>
    <a:clrScheme name="Portfolio Editorial">
      <a:dk1>
        <a:srgbClr val="000000"/>
      </a:dk1>
      <a:lt1>
        <a:srgbClr val="FFFFFF"/>
      </a:lt1>
      <a:dk2>
        <a:srgbClr val="172B4D"/>
      </a:dk2>
      <a:lt2>
        <a:srgbClr val="F1F3F5"/>
      </a:lt2>
      <a:accent1>
        <a:srgbClr val="2F80ED"/>
      </a:accent1>
      <a:accent2>
        <a:srgbClr val="F2994A"/>
      </a:accent2>
      <a:accent3>
        <a:srgbClr val="3D8F62"/>
      </a:accent3>
      <a:accent4>
        <a:srgbClr val="6DCBF4"/>
      </a:accent4>
      <a:accent5>
        <a:srgbClr val="C94C4C"/>
      </a:accent5>
      <a:accent6>
        <a:srgbClr val="5E6C84"/>
      </a:accent6>
      <a:hlink>
        <a:srgbClr val="2F80ED"/>
      </a:hlink>
      <a:folHlink>
        <a:srgbClr val="6B4EA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tfolio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0e58dabdd4532" /><Relationship Type="http://schemas.openxmlformats.org/officeDocument/2006/relationships/notesMaster" Target="/ppt/notesMasters/notesMaster1.xml" Id="R686c81aa45fc49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4a9f8cba074bd7" /><Relationship Type="http://schemas.openxmlformats.org/officeDocument/2006/relationships/notesMaster" Target="/ppt/notesMasters/notesMaster1.xml" Id="R7399f561e876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052090d9704545" /><Relationship Type="http://schemas.openxmlformats.org/officeDocument/2006/relationships/notesMaster" Target="/ppt/notesMasters/notesMaster1.xml" Id="Recbbc5dadef1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357b0642f49a1" /><Relationship Type="http://schemas.openxmlformats.org/officeDocument/2006/relationships/notesMaster" Target="/ppt/notesMasters/notesMaster1.xml" Id="R28edfb7ca226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b3610724504834" /><Relationship Type="http://schemas.openxmlformats.org/officeDocument/2006/relationships/notesMaster" Target="/ppt/notesMasters/notesMaster1.xml" Id="R72cfcac63f644c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c2e89031b745a7" /><Relationship Type="http://schemas.openxmlformats.org/officeDocument/2006/relationships/notesMaster" Target="/ppt/notesMasters/notesMaster1.xml" Id="R4d9b2f6040a5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c21f060b5041fc" /><Relationship Type="http://schemas.openxmlformats.org/officeDocument/2006/relationships/notesMaster" Target="/ppt/notesMasters/notesMaster1.xml" Id="R52ea6e8eba584b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eccaa91e4e43e4" /><Relationship Type="http://schemas.openxmlformats.org/officeDocument/2006/relationships/notesMaster" Target="/ppt/notesMasters/notesMaster1.xml" Id="R4ac9e091ee204d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7ffd2e21d544eb" /><Relationship Type="http://schemas.openxmlformats.org/officeDocument/2006/relationships/notesMaster" Target="/ppt/notesMasters/notesMaster1.xml" Id="R642ecce4eebc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e3a387fdb4708" /><Relationship Type="http://schemas.openxmlformats.org/officeDocument/2006/relationships/notesMaster" Target="/ppt/notesMasters/notesMaster1.xml" Id="R71b75c23047941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analytics_requests/manifest.yml</a:t>
            </a:r>
          </a:p>
          <a:p xmlns:a="http://schemas.openxmlformats.org/drawingml/2006/main">
            <a:r>
              <a:t>- executive_review/data/deck_metrics.json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analytics_requests/request_01_roas_decline/request.md</a:t>
            </a:r>
          </a:p>
          <a:p xmlns:a="http://schemas.openxmlformats.org/drawingml/2006/main">
            <a:r>
              <a:t>- analytics_requests/request_02_funnel_leakage/request.md</a:t>
            </a:r>
          </a:p>
          <a:p xmlns:a="http://schemas.openxmlformats.org/drawingml/2006/main">
            <a:r>
              <a:t>- analytics_requests/request_06_data_quality_investigation/request.md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analytics_requests/request_01_roas_decline/result.csv</a:t>
            </a:r>
          </a:p>
          <a:p xmlns:a="http://schemas.openxmlformats.org/drawingml/2006/main">
            <a:r>
              <a:t>- analytics_requests/request_02_funnel_leakage/result.csv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analytics_requests/request_01_roas_decline/result.csv</a:t>
            </a:r>
          </a:p>
          <a:p xmlns:a="http://schemas.openxmlformats.org/drawingml/2006/main">
            <a:r>
              <a:t>- analytics_requests/request_01_roas_decline/validation.json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Break-even shortfall = max(spend − attributed revenue, 0). It is a review line, not a profit or incrementality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analytics_requests/request_02_funnel_leakage/result.csv</a:t>
            </a:r>
          </a:p>
          <a:p xmlns:a="http://schemas.openxmlformats.org/drawingml/2006/main">
            <a:r>
              <a:t>- analytics_requests/request_02_funnel_leakage/validation.json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 other channel rows contain cross-period cohort timing effects; the paid-social row is internally monotonic and is the focus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analytics_requests/request_04_attribution_sensitivity/result.csv</a:t>
            </a:r>
          </a:p>
          <a:p xmlns:a="http://schemas.openxmlformats.org/drawingml/2006/main">
            <a:r>
              <a:t>- analytics_requests/request_04_attribution_sensitivity/validation.json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analytics_requests/request_03_target_miss/result.csv</a:t>
            </a:r>
          </a:p>
          <a:p xmlns:a="http://schemas.openxmlformats.org/drawingml/2006/main">
            <a:r>
              <a:t>- analytics_requests/request_03_target_miss/validation.json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analysis preserves one target-record grain and does not sum duplicated actuals across target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analytics_requests/request_05_budget_scenario/result.csv</a:t>
            </a:r>
          </a:p>
          <a:p xmlns:a="http://schemas.openxmlformats.org/drawingml/2006/main">
            <a:r>
              <a:t>- analytics_requests/request_05_budget_scenario/validation.json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SIMULATED / WHAT-IF. No real ad account or budget is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analytics_requests/request_06_data_quality_investigation/result.csv</a:t>
            </a:r>
          </a:p>
          <a:p xmlns:a="http://schemas.openxmlformats.org/drawingml/2006/main">
            <a:r>
              <a:t>- analytics_requests/request_06_data_quality_investigation/validation.json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action override checks campaign-ID completeness; source-level quality failures operate at a different grain and do not currently cascade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analytics_requests/README.md</a:t>
            </a:r>
          </a:p>
          <a:p xmlns:a="http://schemas.openxmlformats.org/drawingml/2006/main">
            <a:r>
              <a:t>- business_analysis/stakeholder_requests/decision_log.csv</a:t>
            </a:r>
          </a:p>
          <a:p xmlns:a="http://schemas.openxmlformats.org/drawingml/2006/main">
            <a:r>
              <a:t>- docs/project_scope_boundaries.md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262a2aec9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2a8710080495e" /><Relationship Type="http://schemas.openxmlformats.org/officeDocument/2006/relationships/slideLayout" Target="/ppt/slideLayouts/slideLayout1.xml" Id="Rb49a559299444b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a559299444b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rtfolio Editorial">
  <a:themeElements>
    <a:clrScheme name="Portfolio Editorial">
      <a:dk1>
        <a:srgbClr val="000000"/>
      </a:dk1>
      <a:lt1>
        <a:srgbClr val="FFFFFF"/>
      </a:lt1>
      <a:dk2>
        <a:srgbClr val="172B4D"/>
      </a:dk2>
      <a:lt2>
        <a:srgbClr val="F1F3F5"/>
      </a:lt2>
      <a:accent1>
        <a:srgbClr val="2F80ED"/>
      </a:accent1>
      <a:accent2>
        <a:srgbClr val="F2994A"/>
      </a:accent2>
      <a:accent3>
        <a:srgbClr val="3D8F62"/>
      </a:accent3>
      <a:accent4>
        <a:srgbClr val="6DCBF4"/>
      </a:accent4>
      <a:accent5>
        <a:srgbClr val="C94C4C"/>
      </a:accent5>
      <a:accent6>
        <a:srgbClr val="5E6C84"/>
      </a:accent6>
      <a:hlink>
        <a:srgbClr val="2F80ED"/>
      </a:hlink>
      <a:folHlink>
        <a:srgbClr val="6B4EA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tfolio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a9e6908e4a53" /><Relationship Type="http://schemas.openxmlformats.org/officeDocument/2006/relationships/notesSlide" Target="/ppt/notesSlides/notesSlide1.xml" Id="R98dbdb0c54144d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ec517ea0542c4" /><Relationship Type="http://schemas.openxmlformats.org/officeDocument/2006/relationships/notesSlide" Target="/ppt/notesSlides/notesSlide2.xml" Id="Rab1f2d026ea1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02728535a41ee" /><Relationship Type="http://schemas.openxmlformats.org/officeDocument/2006/relationships/notesSlide" Target="/ppt/notesSlides/notesSlide3.xml" Id="R9e45bd971fba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b5c946cb14778" /><Relationship Type="http://schemas.openxmlformats.org/officeDocument/2006/relationships/chart" Target="/ppt/slides/charts/chart1.xml" Id="Re42bdd1e75884fa1" /><Relationship Type="http://schemas.openxmlformats.org/officeDocument/2006/relationships/notesSlide" Target="/ppt/notesSlides/notesSlide4.xml" Id="Rfdac60f4aac8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007b9921442d0" /><Relationship Type="http://schemas.openxmlformats.org/officeDocument/2006/relationships/chart" Target="/ppt/slides/charts/chart2.xml" Id="R15dcf6a987dd4b81" /><Relationship Type="http://schemas.openxmlformats.org/officeDocument/2006/relationships/notesSlide" Target="/ppt/notesSlides/notesSlide5.xml" Id="Re91fe50b578645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4f98b6b004673" /><Relationship Type="http://schemas.openxmlformats.org/officeDocument/2006/relationships/chart" Target="/ppt/slides/charts/chart3.xml" Id="Ra8f47e80ab0346cb" /><Relationship Type="http://schemas.openxmlformats.org/officeDocument/2006/relationships/notesSlide" Target="/ppt/notesSlides/notesSlide6.xml" Id="R2d178a98310c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7392bff6f45ab" /><Relationship Type="http://schemas.openxmlformats.org/officeDocument/2006/relationships/notesSlide" Target="/ppt/notesSlides/notesSlide7.xml" Id="Rffc660660832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6635f7b764319" /><Relationship Type="http://schemas.openxmlformats.org/officeDocument/2006/relationships/chart" Target="/ppt/slides/charts/chart4.xml" Id="Rb4c30d47308941e5" /><Relationship Type="http://schemas.openxmlformats.org/officeDocument/2006/relationships/notesSlide" Target="/ppt/notesSlides/notesSlide8.xml" Id="Re42ddbf6c0af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4cacb0d484926" /><Relationship Type="http://schemas.openxmlformats.org/officeDocument/2006/relationships/chart" Target="/ppt/slides/charts/chart5.xml" Id="R771489e34a9b409a" /><Relationship Type="http://schemas.openxmlformats.org/officeDocument/2006/relationships/notesSlide" Target="/ppt/notesSlides/notesSlide9.xml" Id="R2bf8f7d43350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cdf92c45b4173" /><Relationship Type="http://schemas.openxmlformats.org/officeDocument/2006/relationships/notesSlide" Target="/ppt/notesSlides/notesSlide10.xml" Id="Rcae62d0df84a47d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Break-even shortfall</c:v>
          </c:tx>
          <c:spPr>
            <a:solidFill xmlns:a="http://schemas.openxmlformats.org/drawingml/2006/main">
              <a:srgbClr val="C94C4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$127K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$127K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$133K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$140K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$141K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CMP-010
Regional Expansion</c:v>
              </c:pt>
              <c:pt idx="1">
                <c:v>CMP-023
Retargeting</c:v>
              </c:pt>
              <c:pt idx="2">
                <c:v>CMP-047
Product Launch</c:v>
              </c:pt>
              <c:pt idx="3">
                <c:v>CMP-048
Enterprise ABM</c:v>
              </c:pt>
              <c:pt idx="4">
                <c:v>CMP-042
Competitor Search</c:v>
              </c:pt>
            </c:strLit>
          </c:cat>
          <c:val>
            <c:numLit>
              <c:formatCode>$0"K"</c:formatCode>
              <c:ptCount val="5"/>
              <c:pt idx="0">
                <c:v>126.517685</c:v>
              </c:pt>
              <c:pt idx="1">
                <c:v>126.95711</c:v>
              </c:pt>
              <c:pt idx="2">
                <c:v>133.355725</c:v>
              </c:pt>
              <c:pt idx="3">
                <c:v>139.57209</c:v>
              </c:pt>
              <c:pt idx="4">
                <c:v>140.98719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4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84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F80E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2B4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2994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94C4C"/>
              </a:solidFill>
            </c:spPr>
          </c:dPt>
          <c:cat>
            <c:strLit>
              <c:ptCount val="4"/>
              <c:pt idx="0">
                <c:v>Leads</c:v>
              </c:pt>
              <c:pt idx="1">
                <c:v>MQL</c:v>
              </c:pt>
              <c:pt idx="2">
                <c:v>SQL</c:v>
              </c:pt>
              <c:pt idx="3">
                <c:v>Closed</c:v>
              </c:pt>
            </c:strLit>
          </c:cat>
          <c:val>
            <c:numLit>
              <c:formatCode>General</c:formatCode>
              <c:ptCount val="4"/>
              <c:pt idx="0">
                <c:v>385</c:v>
              </c:pt>
              <c:pt idx="1">
                <c:v>82</c:v>
              </c:pt>
              <c:pt idx="2">
                <c:v>45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B4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Paid Search attributed revenue</c:v>
          </c:tx>
          <c:spPr>
            <a:solidFill xmlns:a="http://schemas.openxmlformats.org/drawingml/2006/main">
              <a:srgbClr val="2F80ED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$119K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$123K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$121K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$121K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$122K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$121K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"/>
              <c:pt idx="0">
                <c:v>First</c:v>
              </c:pt>
              <c:pt idx="1">
                <c:v>Last</c:v>
              </c:pt>
              <c:pt idx="2">
                <c:v>Linear</c:v>
              </c:pt>
              <c:pt idx="3">
                <c:v>U-shaped</c:v>
              </c:pt>
              <c:pt idx="4">
                <c:v>Time decay</c:v>
              </c:pt>
              <c:pt idx="5">
                <c:v>Position</c:v>
              </c:pt>
            </c:strLit>
          </c:cat>
          <c:val>
            <c:numLit>
              <c:formatCode>$0"K"</c:formatCode>
              <c:ptCount val="6"/>
              <c:pt idx="0">
                <c:v>119.29351</c:v>
              </c:pt>
              <c:pt idx="1">
                <c:v>123.20917999999999</c:v>
              </c:pt>
              <c:pt idx="2">
                <c:v>121.251345</c:v>
              </c:pt>
              <c:pt idx="3">
                <c:v>121.251345</c:v>
              </c:pt>
              <c:pt idx="4">
                <c:v>121.59679113300001</c:v>
              </c:pt>
              <c:pt idx="5">
                <c:v>121.251345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B4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84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Projected ROAS</c:v>
          </c:tx>
          <c:spPr>
            <a:solidFill xmlns:a="http://schemas.openxmlformats.org/drawingml/2006/main">
              <a:srgbClr val="2F80ED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72B4D"/>
                        </a:solidFill>
                      </a:rPr>
                      <a:t>0.16x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72B4D"/>
                        </a:solidFill>
                      </a:rPr>
                      <a:t>0.13x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72B4D"/>
                        </a:solidFill>
                      </a:rPr>
                      <a:t>0.18x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72B4D"/>
                        </a:solidFill>
                      </a:rPr>
                      <a:t>0.19x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72B4D"/>
                        </a:solidFill>
                      </a:rPr>
                      <a:t>0.17x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Baseline</c:v>
              </c:pt>
              <c:pt idx="1">
                <c:v>Conservative</c:v>
              </c:pt>
              <c:pt idx="2">
                <c:v>Expected</c:v>
              </c:pt>
              <c:pt idx="3">
                <c:v>Aggressive</c:v>
              </c:pt>
              <c:pt idx="4">
                <c:v>User Defined</c:v>
              </c:pt>
            </c:strLit>
          </c:cat>
          <c:val>
            <c:numLit>
              <c:formatCode>0.0x</c:formatCode>
              <c:ptCount val="5"/>
              <c:pt idx="0">
                <c:v>0.162734</c:v>
              </c:pt>
              <c:pt idx="1">
                <c:v>0.132512</c:v>
              </c:pt>
              <c:pt idx="2">
                <c:v>0.179414</c:v>
              </c:pt>
              <c:pt idx="3">
                <c:v>0.188385</c:v>
              </c:pt>
              <c:pt idx="4">
                <c:v>0.170871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B4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84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Rejected rows (%)</c:v>
          </c:tx>
          <c:spPr>
            <a:solidFill xmlns:a="http://schemas.openxmlformats.org/drawingml/2006/main">
              <a:srgbClr val="C94C4C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0.9%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0.9%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25" b="1">
                        <a:solidFill>
                          <a:srgbClr val="172B4D"/>
                        </a:solidFill>
                      </a:rPr>
                      <a:t>0.3%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25" b="1">
                      <a:solidFill>
                        <a:srgbClr val="172B4D"/>
                      </a:solidFill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google ads</c:v>
              </c:pt>
              <c:pt idx="1">
                <c:v>facebook ads</c:v>
              </c:pt>
              <c:pt idx="2">
                <c:v>tiktok ads</c:v>
              </c:pt>
            </c:strLit>
          </c:cat>
          <c:val>
            <c:numLit>
              <c:formatCode>General</c:formatCode>
              <c:ptCount val="3"/>
              <c:pt idx="0">
                <c:v>91.63</c:v>
              </c:pt>
              <c:pt idx="1">
                <c:v>88.54</c:v>
              </c:pt>
              <c:pt idx="2">
                <c:v>33.2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B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Rejected rows (basis points)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C8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B4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0E49B38-6AEE-457D-9804-59A4D50F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MONTHLY MARKETING BUSINESS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B056EB-3A91-4B3E-814B-86CF7FBA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524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Review first.</a:t>
            </a:r>
          </a:p>
          <a:p xmlns:a="http://schemas.openxmlformats.org/drawingml/2006/main">
            <a:pPr algn="l">
              <a:defRPr sz="5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Hold on failure.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33C3F7C-26E1-4961-B9AD-3BC4844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5219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A modeled executive review of campaign return, funnel leakage, attribution sensitivity, target variance, budget scenarios, and reporting trust.</a:t>
            </a:r>
          </a:p>
        </p:txBody>
      </p:sp>
      <p:sp>
        <p:nvSpPr>
          <p:cNvPr id="4" name="cover-hero">
            <a:extLst xmlns:a="http://schemas.openxmlformats.org/drawingml/2006/main">
              <a:ext uri="{FF2B5EF4-FFF2-40B4-BE49-F238E27FC236}">
                <a16:creationId xmlns:a16="http://schemas.microsoft.com/office/drawing/2014/main" id="{A989A2E0-65D1-4B61-B2D0-114706D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1500"/>
            <a:ext cx="521017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cover-hero-value">
            <a:extLst xmlns:a="http://schemas.openxmlformats.org/drawingml/2006/main">
              <a:ext uri="{FF2B5EF4-FFF2-40B4-BE49-F238E27FC236}">
                <a16:creationId xmlns:a16="http://schemas.microsoft.com/office/drawing/2014/main" id="{42D17574-830B-40F4-B1FE-5C6EB9F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0.03x</a:t>
            </a:r>
          </a:p>
        </p:txBody>
      </p:sp>
      <p:sp>
        <p:nvSpPr>
          <p:cNvPr id="6" name="cover-hero-label">
            <a:extLst xmlns:a="http://schemas.openxmlformats.org/drawingml/2006/main">
              <a:ext uri="{FF2B5EF4-FFF2-40B4-BE49-F238E27FC236}">
                <a16:creationId xmlns:a16="http://schemas.microsoft.com/office/drawing/2014/main" id="{2D2A16F2-B3EE-407C-8D10-2DD9E95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Paid-social attributed ROAS</a:t>
            </a:r>
          </a:p>
        </p:txBody>
      </p:sp>
      <p:sp>
        <p:nvSpPr>
          <p:cNvPr id="7" name="cover-hero-question">
            <a:extLst xmlns:a="http://schemas.openxmlformats.org/drawingml/2006/main">
              <a:ext uri="{FF2B5EF4-FFF2-40B4-BE49-F238E27FC236}">
                <a16:creationId xmlns:a16="http://schemas.microsoft.com/office/drawing/2014/main" id="{ED2C8FDC-F5D9-4073-80D9-5251AFD5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3981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The signal is weak—but three paid-media sources also fail quality checks. The management question is whether to optimize or pause for validation.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889D8C5-071E-487F-B593-79F0B99D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GENERATED / SYNTHETIC MARKETING DATA · MODELED PORTFOLIO CASE STUDY</a:t>
            </a:r>
          </a:p>
        </p:txBody>
      </p:sp>
    </p:spTree>
    <p:extLst>
      <p:ext uri="{BB962C8B-B14F-4D97-AF65-F5344CB8AC3E}">
        <p14:creationId xmlns:p14="http://schemas.microsoft.com/office/powerpoint/2010/main" val="1872362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5BB34D5-511B-4534-9722-A5B96F18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Validate the signal before changing budget</a:t>
            </a:r>
          </a:p>
        </p:txBody>
      </p:sp>
      <p:sp>
        <p:nvSpPr>
          <p:cNvPr id="2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26A08D07-B2AA-4A82-8CA4-5825B25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2</a:t>
            </a:r>
          </a:p>
        </p:txBody>
      </p:sp>
      <p:sp>
        <p:nvSpPr>
          <p:cNvPr id="3" name="summary-what-box">
            <a:extLst xmlns:a="http://schemas.openxmlformats.org/drawingml/2006/main">
              <a:ext uri="{FF2B5EF4-FFF2-40B4-BE49-F238E27FC236}">
                <a16:creationId xmlns:a16="http://schemas.microsoft.com/office/drawing/2014/main" id="{5B83D3A9-7C5A-408F-891F-B0F370B7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219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4" name="summary-what-rule">
            <a:extLst xmlns:a="http://schemas.openxmlformats.org/drawingml/2006/main">
              <a:ext uri="{FF2B5EF4-FFF2-40B4-BE49-F238E27FC236}">
                <a16:creationId xmlns:a16="http://schemas.microsoft.com/office/drawing/2014/main" id="{7A316144-40AE-4EE7-B7DB-4661C31B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9525">
            <a:solidFill>
              <a:srgbClr val="C94C4C"/>
            </a:solidFill>
            <a:prstDash val="solid"/>
          </a:ln>
        </p:spPr>
      </p:sp>
      <p:sp>
        <p:nvSpPr>
          <p:cNvPr id="5" name="summary-what-heading">
            <a:extLst xmlns:a="http://schemas.openxmlformats.org/drawingml/2006/main">
              <a:ext uri="{FF2B5EF4-FFF2-40B4-BE49-F238E27FC236}">
                <a16:creationId xmlns:a16="http://schemas.microsoft.com/office/drawing/2014/main" id="{E98A593D-4105-48AF-A27D-27A9814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WHAT HAPPENED</a:t>
            </a:r>
          </a:p>
        </p:txBody>
      </p:sp>
      <p:sp>
        <p:nvSpPr>
          <p:cNvPr id="6" name="summary-what-body">
            <a:extLst xmlns:a="http://schemas.openxmlformats.org/drawingml/2006/main">
              <a:ext uri="{FF2B5EF4-FFF2-40B4-BE49-F238E27FC236}">
                <a16:creationId xmlns:a16="http://schemas.microsoft.com/office/drawing/2014/main" id="{1E129DC4-66A2-4E36-8C75-E647B30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819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Paid social shows 0.03x attributed ROAS. 79% of its lead cohort does not reach MQL.</a:t>
            </a:r>
          </a:p>
        </p:txBody>
      </p:sp>
      <p:sp>
        <p:nvSpPr>
          <p:cNvPr id="7" name="summary-why-box">
            <a:extLst xmlns:a="http://schemas.openxmlformats.org/drawingml/2006/main">
              <a:ext uri="{FF2B5EF4-FFF2-40B4-BE49-F238E27FC236}">
                <a16:creationId xmlns:a16="http://schemas.microsoft.com/office/drawing/2014/main" id="{2900BC25-7FC5-4736-BF75-4453A9D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09700"/>
            <a:ext cx="561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8" name="summary-why-rule">
            <a:extLst xmlns:a="http://schemas.openxmlformats.org/drawingml/2006/main">
              <a:ext uri="{FF2B5EF4-FFF2-40B4-BE49-F238E27FC236}">
                <a16:creationId xmlns:a16="http://schemas.microsoft.com/office/drawing/2014/main" id="{C9FABD21-BD90-49CB-995E-7E03912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097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9" name="summary-why-heading">
            <a:extLst xmlns:a="http://schemas.openxmlformats.org/drawingml/2006/main">
              <a:ext uri="{FF2B5EF4-FFF2-40B4-BE49-F238E27FC236}">
                <a16:creationId xmlns:a16="http://schemas.microsoft.com/office/drawing/2014/main" id="{F0F2BBA3-3579-44AB-8A81-A765EE1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10" name="summary-why-body">
            <a:extLst xmlns:a="http://schemas.openxmlformats.org/drawingml/2006/main">
              <a:ext uri="{FF2B5EF4-FFF2-40B4-BE49-F238E27FC236}">
                <a16:creationId xmlns:a16="http://schemas.microsoft.com/office/drawing/2014/main" id="{46BCF166-4423-40A4-8970-041F0964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521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Weak return is distributed across campaigns, while the selected target record contains conflicting lead, revenue, and platform-conversion signals.</a:t>
            </a:r>
          </a:p>
        </p:txBody>
      </p:sp>
      <p:sp>
        <p:nvSpPr>
          <p:cNvPr id="11" name="summary-so-box">
            <a:extLst xmlns:a="http://schemas.openxmlformats.org/drawingml/2006/main">
              <a:ext uri="{FF2B5EF4-FFF2-40B4-BE49-F238E27FC236}">
                <a16:creationId xmlns:a16="http://schemas.microsoft.com/office/drawing/2014/main" id="{A5721C01-EC54-4C48-A3EF-195348F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521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2" name="summary-so-rule">
            <a:extLst xmlns:a="http://schemas.openxmlformats.org/drawingml/2006/main">
              <a:ext uri="{FF2B5EF4-FFF2-40B4-BE49-F238E27FC236}">
                <a16:creationId xmlns:a16="http://schemas.microsoft.com/office/drawing/2014/main" id="{725F2935-9353-40C3-9D7A-9F6766BB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13" name="summary-so-heading">
            <a:extLst xmlns:a="http://schemas.openxmlformats.org/drawingml/2006/main">
              <a:ext uri="{FF2B5EF4-FFF2-40B4-BE49-F238E27FC236}">
                <a16:creationId xmlns:a16="http://schemas.microsoft.com/office/drawing/2014/main" id="{DBDAE449-1A6E-4088-A126-74D80D6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SO WHAT</a:t>
            </a:r>
          </a:p>
        </p:txBody>
      </p:sp>
      <p:sp>
        <p:nvSpPr>
          <p:cNvPr id="14" name="summary-so-body">
            <a:extLst xmlns:a="http://schemas.openxmlformats.org/drawingml/2006/main">
              <a:ext uri="{FF2B5EF4-FFF2-40B4-BE49-F238E27FC236}">
                <a16:creationId xmlns:a16="http://schemas.microsoft.com/office/drawing/2014/main" id="{8FCD3691-1A73-459F-A795-AA72DC6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819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3 paid-media sources require a release hold; 4 other sources require review. Campaign logic emits 1 automatic hold.</a:t>
            </a:r>
          </a:p>
        </p:txBody>
      </p:sp>
      <p:sp>
        <p:nvSpPr>
          <p:cNvPr id="15" name="summary-action-box">
            <a:extLst xmlns:a="http://schemas.openxmlformats.org/drawingml/2006/main">
              <a:ext uri="{FF2B5EF4-FFF2-40B4-BE49-F238E27FC236}">
                <a16:creationId xmlns:a16="http://schemas.microsoft.com/office/drawing/2014/main" id="{D82B5F39-BD77-45E9-AA2A-7617373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561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6" name="summary-action-rule">
            <a:extLst xmlns:a="http://schemas.openxmlformats.org/drawingml/2006/main">
              <a:ext uri="{FF2B5EF4-FFF2-40B4-BE49-F238E27FC236}">
                <a16:creationId xmlns:a16="http://schemas.microsoft.com/office/drawing/2014/main" id="{574E280A-5DC8-48A1-8C7F-A9A8CCC1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7" name="summary-action-heading">
            <a:extLst xmlns:a="http://schemas.openxmlformats.org/drawingml/2006/main">
              <a:ext uri="{FF2B5EF4-FFF2-40B4-BE49-F238E27FC236}">
                <a16:creationId xmlns:a16="http://schemas.microsoft.com/office/drawing/2014/main" id="{CBA766F3-6D8E-4134-A246-B93D244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8" name="summary-action-body">
            <a:extLst xmlns:a="http://schemas.openxmlformats.org/drawingml/2006/main">
              <a:ext uri="{FF2B5EF4-FFF2-40B4-BE49-F238E27FC236}">
                <a16:creationId xmlns:a16="http://schemas.microsoft.com/office/drawing/2014/main" id="{4B1E602B-056E-4F0B-96AB-99DC81B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Apply a manual DATA QUALITY HOLD, reconcile measurement definitions, then review campaign and funnel actions. Do not execute a live budget change from this case study.</a:t>
            </a:r>
          </a:p>
        </p:txBody>
      </p:sp>
    </p:spTree>
    <p:extLst>
      <p:ext uri="{BB962C8B-B14F-4D97-AF65-F5344CB8AC3E}">
        <p14:creationId xmlns:p14="http://schemas.microsoft.com/office/powerpoint/2010/main" val="910315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CBA3391-B647-4C4B-91A9-2F09201D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scorecard says review, not scale</a:t>
            </a:r>
          </a:p>
        </p:txBody>
      </p:sp>
      <p:sp>
        <p:nvSpPr>
          <p:cNvPr id="2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AEBFFE21-21F3-43B6-8233-4F7BCE59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3</a:t>
            </a:r>
          </a:p>
        </p:txBody>
      </p:sp>
      <p:sp>
        <p:nvSpPr>
          <p:cNvPr id="3" name="scorecard-context">
            <a:extLst xmlns:a="http://schemas.openxmlformats.org/drawingml/2006/main">
              <a:ext uri="{FF2B5EF4-FFF2-40B4-BE49-F238E27FC236}">
                <a16:creationId xmlns:a16="http://schemas.microsoft.com/office/drawing/2014/main" id="{07C2C636-B2AE-49F2-8D48-E8B1F5D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Latest available governed paid-social campaign period</a:t>
            </a:r>
          </a:p>
        </p:txBody>
      </p:sp>
      <p:sp>
        <p:nvSpPr>
          <p:cNvPr id="4" name="spend-panel">
            <a:extLst xmlns:a="http://schemas.openxmlformats.org/drawingml/2006/main">
              <a:ext uri="{FF2B5EF4-FFF2-40B4-BE49-F238E27FC236}">
                <a16:creationId xmlns:a16="http://schemas.microsoft.com/office/drawing/2014/main" id="{D46622E6-75EB-4A86-9E3F-1041EE64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571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spend-accent">
            <a:extLst xmlns:a="http://schemas.openxmlformats.org/drawingml/2006/main">
              <a:ext uri="{FF2B5EF4-FFF2-40B4-BE49-F238E27FC236}">
                <a16:creationId xmlns:a16="http://schemas.microsoft.com/office/drawing/2014/main" id="{DE51127D-44A8-48C3-9D83-558ADE0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spend-value">
            <a:extLst xmlns:a="http://schemas.openxmlformats.org/drawingml/2006/main">
              <a:ext uri="{FF2B5EF4-FFF2-40B4-BE49-F238E27FC236}">
                <a16:creationId xmlns:a16="http://schemas.microsoft.com/office/drawing/2014/main" id="{5A047E36-E735-4146-82BC-B7DF96D0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$1.20M</a:t>
            </a:r>
          </a:p>
        </p:txBody>
      </p:sp>
      <p:sp>
        <p:nvSpPr>
          <p:cNvPr id="7" name="spend-label">
            <a:extLst xmlns:a="http://schemas.openxmlformats.org/drawingml/2006/main">
              <a:ext uri="{FF2B5EF4-FFF2-40B4-BE49-F238E27FC236}">
                <a16:creationId xmlns:a16="http://schemas.microsoft.com/office/drawing/2014/main" id="{246EA92F-DA18-4D0A-B51F-3E15F39E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Paid-social spend</a:t>
            </a:r>
          </a:p>
        </p:txBody>
      </p:sp>
      <p:sp>
        <p:nvSpPr>
          <p:cNvPr id="8" name="revenue-panel">
            <a:extLst xmlns:a="http://schemas.openxmlformats.org/drawingml/2006/main">
              <a:ext uri="{FF2B5EF4-FFF2-40B4-BE49-F238E27FC236}">
                <a16:creationId xmlns:a16="http://schemas.microsoft.com/office/drawing/2014/main" id="{D322B5A1-3842-41B2-922A-7416AE69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2571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revenue-accent">
            <a:extLst xmlns:a="http://schemas.openxmlformats.org/drawingml/2006/main">
              <a:ext uri="{FF2B5EF4-FFF2-40B4-BE49-F238E27FC236}">
                <a16:creationId xmlns:a16="http://schemas.microsoft.com/office/drawing/2014/main" id="{178957C0-0077-4CAF-BE7D-CAB1B71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revenue-value">
            <a:extLst xmlns:a="http://schemas.openxmlformats.org/drawingml/2006/main">
              <a:ext uri="{FF2B5EF4-FFF2-40B4-BE49-F238E27FC236}">
                <a16:creationId xmlns:a16="http://schemas.microsoft.com/office/drawing/2014/main" id="{6E722C58-FC9D-4FA5-B510-C5582544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$34K</a:t>
            </a:r>
          </a:p>
        </p:txBody>
      </p:sp>
      <p:sp>
        <p:nvSpPr>
          <p:cNvPr id="11" name="revenue-label">
            <a:extLst xmlns:a="http://schemas.openxmlformats.org/drawingml/2006/main">
              <a:ext uri="{FF2B5EF4-FFF2-40B4-BE49-F238E27FC236}">
                <a16:creationId xmlns:a16="http://schemas.microsoft.com/office/drawing/2014/main" id="{0A9BF9EF-2F4C-40C9-B8E4-3BBB8F72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Attributed revenue</a:t>
            </a:r>
          </a:p>
        </p:txBody>
      </p:sp>
      <p:sp>
        <p:nvSpPr>
          <p:cNvPr id="12" name="roas-panel">
            <a:extLst xmlns:a="http://schemas.openxmlformats.org/drawingml/2006/main">
              <a:ext uri="{FF2B5EF4-FFF2-40B4-BE49-F238E27FC236}">
                <a16:creationId xmlns:a16="http://schemas.microsoft.com/office/drawing/2014/main" id="{D9F37C5B-5FA4-4348-8C36-5489E1B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571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3" name="roas-accent">
            <a:extLst xmlns:a="http://schemas.openxmlformats.org/drawingml/2006/main">
              <a:ext uri="{FF2B5EF4-FFF2-40B4-BE49-F238E27FC236}">
                <a16:creationId xmlns:a16="http://schemas.microsoft.com/office/drawing/2014/main" id="{215EBC83-A77F-438C-8937-8F6C251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9525">
            <a:solidFill>
              <a:srgbClr val="C94C4C"/>
            </a:solidFill>
            <a:prstDash val="solid"/>
          </a:ln>
        </p:spPr>
      </p:sp>
      <p:sp>
        <p:nvSpPr>
          <p:cNvPr id="14" name="roas-value">
            <a:extLst xmlns:a="http://schemas.openxmlformats.org/drawingml/2006/main">
              <a:ext uri="{FF2B5EF4-FFF2-40B4-BE49-F238E27FC236}">
                <a16:creationId xmlns:a16="http://schemas.microsoft.com/office/drawing/2014/main" id="{D8C21207-B4C7-4F63-9364-48E5D71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0.03x</a:t>
            </a:r>
          </a:p>
        </p:txBody>
      </p:sp>
      <p:sp>
        <p:nvSpPr>
          <p:cNvPr id="15" name="roas-label">
            <a:extLst xmlns:a="http://schemas.openxmlformats.org/drawingml/2006/main">
              <a:ext uri="{FF2B5EF4-FFF2-40B4-BE49-F238E27FC236}">
                <a16:creationId xmlns:a16="http://schemas.microsoft.com/office/drawing/2014/main" id="{3C0EA9B2-4400-4F60-8010-0EF8E9F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Attributed ROAS</a:t>
            </a:r>
          </a:p>
        </p:txBody>
      </p:sp>
      <p:sp>
        <p:nvSpPr>
          <p:cNvPr id="16" name="leakage-panel">
            <a:extLst xmlns:a="http://schemas.openxmlformats.org/drawingml/2006/main">
              <a:ext uri="{FF2B5EF4-FFF2-40B4-BE49-F238E27FC236}">
                <a16:creationId xmlns:a16="http://schemas.microsoft.com/office/drawing/2014/main" id="{35F03534-3B64-4E46-9FE0-8276901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6289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7" name="leakage-accent">
            <a:extLst xmlns:a="http://schemas.openxmlformats.org/drawingml/2006/main">
              <a:ext uri="{FF2B5EF4-FFF2-40B4-BE49-F238E27FC236}">
                <a16:creationId xmlns:a16="http://schemas.microsoft.com/office/drawing/2014/main" id="{6622149B-5691-4105-B5BC-CB9B6234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18" name="leakage-value">
            <a:extLst xmlns:a="http://schemas.openxmlformats.org/drawingml/2006/main">
              <a:ext uri="{FF2B5EF4-FFF2-40B4-BE49-F238E27FC236}">
                <a16:creationId xmlns:a16="http://schemas.microsoft.com/office/drawing/2014/main" id="{9B5F02ED-4F07-4199-BC13-173BD17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79%</a:t>
            </a:r>
          </a:p>
        </p:txBody>
      </p:sp>
      <p:sp>
        <p:nvSpPr>
          <p:cNvPr id="19" name="leakage-label">
            <a:extLst xmlns:a="http://schemas.openxmlformats.org/drawingml/2006/main">
              <a:ext uri="{FF2B5EF4-FFF2-40B4-BE49-F238E27FC236}">
                <a16:creationId xmlns:a16="http://schemas.microsoft.com/office/drawing/2014/main" id="{FB57DF8B-C2C2-4FC0-B2AA-83FD3C4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Lead → MQL leakage</a:t>
            </a:r>
          </a:p>
        </p:txBody>
      </p:sp>
      <p:sp>
        <p:nvSpPr>
          <p:cNvPr id="20" name="scorecard-meaning-box">
            <a:extLst xmlns:a="http://schemas.openxmlformats.org/drawingml/2006/main">
              <a:ext uri="{FF2B5EF4-FFF2-40B4-BE49-F238E27FC236}">
                <a16:creationId xmlns:a16="http://schemas.microsoft.com/office/drawing/2014/main" id="{EEC81862-EC3F-4503-8958-F6A02769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21" name="scorecard-meaning-rule">
            <a:extLst xmlns:a="http://schemas.openxmlformats.org/drawingml/2006/main">
              <a:ext uri="{FF2B5EF4-FFF2-40B4-BE49-F238E27FC236}">
                <a16:creationId xmlns:a16="http://schemas.microsoft.com/office/drawing/2014/main" id="{539F33DF-7CE8-48A5-A844-38A447C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2" name="scorecard-meaning-heading">
            <a:extLst xmlns:a="http://schemas.openxmlformats.org/drawingml/2006/main">
              <a:ext uri="{FF2B5EF4-FFF2-40B4-BE49-F238E27FC236}">
                <a16:creationId xmlns:a16="http://schemas.microsoft.com/office/drawing/2014/main" id="{2EA4B6EA-54E9-486C-98A4-E349382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68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MANAGEMENT READING</a:t>
            </a:r>
          </a:p>
        </p:txBody>
      </p:sp>
      <p:sp>
        <p:nvSpPr>
          <p:cNvPr id="23" name="scorecard-meaning-body">
            <a:extLst xmlns:a="http://schemas.openxmlformats.org/drawingml/2006/main">
              <a:ext uri="{FF2B5EF4-FFF2-40B4-BE49-F238E27FC236}">
                <a16:creationId xmlns:a16="http://schemas.microsoft.com/office/drawing/2014/main" id="{90D39301-723A-422D-803F-626CC526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8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Performance evidence warrants investigation; it does not support a causal claim or an automatic budget cut. Quality status and attribution boundaries remain part of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981929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0219573-60DF-424C-AD61-E227110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Weak return is not isolated to one campaign</a:t>
            </a:r>
          </a:p>
        </p:txBody>
      </p:sp>
      <p:sp>
        <p:nvSpPr>
          <p:cNvPr id="2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9235B843-0438-4EF1-9E33-F2E8722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6858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2bdd1e75884fa1"/>
          </a:graphicData>
        </a:graphic>
      </p:graphicFrame>
      <p:sp>
        <p:nvSpPr>
          <p:cNvPr id="4" name="campaign-so-box">
            <a:extLst xmlns:a="http://schemas.openxmlformats.org/drawingml/2006/main">
              <a:ext uri="{FF2B5EF4-FFF2-40B4-BE49-F238E27FC236}">
                <a16:creationId xmlns:a16="http://schemas.microsoft.com/office/drawing/2014/main" id="{48D8B188-9173-47C8-A2C7-CB97C491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382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campaign-so-rule">
            <a:extLst xmlns:a="http://schemas.openxmlformats.org/drawingml/2006/main">
              <a:ext uri="{FF2B5EF4-FFF2-40B4-BE49-F238E27FC236}">
                <a16:creationId xmlns:a16="http://schemas.microsoft.com/office/drawing/2014/main" id="{8585A744-1F29-41A6-BB07-6F594ED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6" name="campaign-so-heading">
            <a:extLst xmlns:a="http://schemas.openxmlformats.org/drawingml/2006/main">
              <a:ext uri="{FF2B5EF4-FFF2-40B4-BE49-F238E27FC236}">
                <a16:creationId xmlns:a16="http://schemas.microsoft.com/office/drawing/2014/main" id="{56851B22-2A73-4CFF-871D-317BFD97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SO WHAT</a:t>
            </a:r>
          </a:p>
        </p:txBody>
      </p:sp>
      <p:sp>
        <p:nvSpPr>
          <p:cNvPr id="7" name="campaign-so-body">
            <a:extLst xmlns:a="http://schemas.openxmlformats.org/drawingml/2006/main">
              <a:ext uri="{FF2B5EF4-FFF2-40B4-BE49-F238E27FC236}">
                <a16:creationId xmlns:a16="http://schemas.microsoft.com/office/drawing/2014/main" id="{EC4806E1-9112-4C3F-97D9-60C5212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largest two shortfalls explain only 24% of the total. A one-campaign fix would leave most of the observed gap unresolved.</a:t>
            </a:r>
          </a:p>
        </p:txBody>
      </p:sp>
      <p:sp>
        <p:nvSpPr>
          <p:cNvPr id="8" name="campaign-action-box">
            <a:extLst xmlns:a="http://schemas.openxmlformats.org/drawingml/2006/main">
              <a:ext uri="{FF2B5EF4-FFF2-40B4-BE49-F238E27FC236}">
                <a16:creationId xmlns:a16="http://schemas.microsoft.com/office/drawing/2014/main" id="{7C24B191-F7C5-4FC5-9007-A3E37C0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82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campaign-action-rule">
            <a:extLst xmlns:a="http://schemas.openxmlformats.org/drawingml/2006/main">
              <a:ext uri="{FF2B5EF4-FFF2-40B4-BE49-F238E27FC236}">
                <a16:creationId xmlns:a16="http://schemas.microsoft.com/office/drawing/2014/main" id="{CAB199DA-4268-4C97-9B1E-216835A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campaign-action-heading">
            <a:extLst xmlns:a="http://schemas.openxmlformats.org/drawingml/2006/main">
              <a:ext uri="{FF2B5EF4-FFF2-40B4-BE49-F238E27FC236}">
                <a16:creationId xmlns:a16="http://schemas.microsoft.com/office/drawing/2014/main" id="{D6D68C4A-9671-4DC4-9863-FBAB56DB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campaign-action-body">
            <a:extLst xmlns:a="http://schemas.openxmlformats.org/drawingml/2006/main">
              <a:ext uri="{FF2B5EF4-FFF2-40B4-BE49-F238E27FC236}">
                <a16:creationId xmlns:a16="http://schemas.microsoft.com/office/drawing/2014/main" id="{FC192A0D-DAE8-458A-ABD8-110B366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Review campaign mapping, attribution coverage, and conversion tracking across the portfolio before changing spend. Prioritize the listed campaigns for diagnostic sampling.</a:t>
            </a:r>
          </a:p>
        </p:txBody>
      </p:sp>
    </p:spTree>
    <p:extLst>
      <p:ext uri="{BB962C8B-B14F-4D97-AF65-F5344CB8AC3E}">
        <p14:creationId xmlns:p14="http://schemas.microsoft.com/office/powerpoint/2010/main" val="1786199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225E56B-1D7B-4213-89B1-F83D3BC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Paid social loses most volume before MQL</a:t>
            </a:r>
          </a:p>
        </p:txBody>
      </p:sp>
      <p:sp>
        <p:nvSpPr>
          <p:cNvPr id="2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1632D1DD-5F36-48E5-B7E6-118F132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dcf6a987dd4b81"/>
          </a:graphicData>
        </a:graphic>
      </p:graphicFrame>
      <p:sp>
        <p:nvSpPr>
          <p:cNvPr id="4" name="funnel-why-box">
            <a:extLst xmlns:a="http://schemas.openxmlformats.org/drawingml/2006/main">
              <a:ext uri="{FF2B5EF4-FFF2-40B4-BE49-F238E27FC236}">
                <a16:creationId xmlns:a16="http://schemas.microsoft.com/office/drawing/2014/main" id="{0615EDE5-B0AE-4746-B252-36D31976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543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funnel-why-rule">
            <a:extLst xmlns:a="http://schemas.openxmlformats.org/drawingml/2006/main">
              <a:ext uri="{FF2B5EF4-FFF2-40B4-BE49-F238E27FC236}">
                <a16:creationId xmlns:a16="http://schemas.microsoft.com/office/drawing/2014/main" id="{3B5C0988-47A4-4A01-87C0-330AA07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6" name="funnel-why-heading">
            <a:extLst xmlns:a="http://schemas.openxmlformats.org/drawingml/2006/main">
              <a:ext uri="{FF2B5EF4-FFF2-40B4-BE49-F238E27FC236}">
                <a16:creationId xmlns:a16="http://schemas.microsoft.com/office/drawing/2014/main" id="{8455D73D-9550-4025-AB96-BEC04A1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7" name="funnel-why-body">
            <a:extLst xmlns:a="http://schemas.openxmlformats.org/drawingml/2006/main">
              <a:ext uri="{FF2B5EF4-FFF2-40B4-BE49-F238E27FC236}">
                <a16:creationId xmlns:a16="http://schemas.microsoft.com/office/drawing/2014/main" id="{CC83E0E8-50EC-409A-B583-5103EDC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303 of 385 paid-social leads do not reach MQL. The largest loss precedes Sales qualification.</a:t>
            </a:r>
          </a:p>
        </p:txBody>
      </p:sp>
      <p:sp>
        <p:nvSpPr>
          <p:cNvPr id="8" name="funnel-action-box">
            <a:extLst xmlns:a="http://schemas.openxmlformats.org/drawingml/2006/main">
              <a:ext uri="{FF2B5EF4-FFF2-40B4-BE49-F238E27FC236}">
                <a16:creationId xmlns:a16="http://schemas.microsoft.com/office/drawing/2014/main" id="{C3352B5E-D1D7-442B-B4F1-AF55C2C6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543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funnel-action-rule">
            <a:extLst xmlns:a="http://schemas.openxmlformats.org/drawingml/2006/main">
              <a:ext uri="{FF2B5EF4-FFF2-40B4-BE49-F238E27FC236}">
                <a16:creationId xmlns:a16="http://schemas.microsoft.com/office/drawing/2014/main" id="{66A4035E-F941-4C2A-BC9A-1B7ED177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funnel-action-heading">
            <a:extLst xmlns:a="http://schemas.openxmlformats.org/drawingml/2006/main">
              <a:ext uri="{FF2B5EF4-FFF2-40B4-BE49-F238E27FC236}">
                <a16:creationId xmlns:a16="http://schemas.microsoft.com/office/drawing/2014/main" id="{432E9593-D184-4EA3-869E-5A196B91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funnel-action-body">
            <a:extLst xmlns:a="http://schemas.openxmlformats.org/drawingml/2006/main">
              <a:ext uri="{FF2B5EF4-FFF2-40B4-BE49-F238E27FC236}">
                <a16:creationId xmlns:a16="http://schemas.microsoft.com/office/drawing/2014/main" id="{387369DF-9F8C-450A-B394-253CF7B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Sample unqualified leads by campaign and lead score; review source fit and the MQL definition before optimizing the smaller downstream stages.</a:t>
            </a:r>
          </a:p>
        </p:txBody>
      </p:sp>
    </p:spTree>
    <p:extLst>
      <p:ext uri="{BB962C8B-B14F-4D97-AF65-F5344CB8AC3E}">
        <p14:creationId xmlns:p14="http://schemas.microsoft.com/office/powerpoint/2010/main" val="775495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312E207-3573-4FF8-BC75-1C98221C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Attribution changes magnitude—not the leader</a:t>
            </a:r>
          </a:p>
        </p:txBody>
      </p:sp>
      <p:sp>
        <p:nvSpPr>
          <p:cNvPr id="2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87885DC0-8511-43BD-98B7-01AF5F7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390650"/>
          <a:ext xmlns:a="http://schemas.openxmlformats.org/drawingml/2006/main" cx="7429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f47e80ab0346cb"/>
          </a:graphicData>
        </a:graphic>
      </p:graphicFrame>
      <p:sp>
        <p:nvSpPr>
          <p:cNvPr id="4" name="attribution-reading-box">
            <a:extLst xmlns:a="http://schemas.openxmlformats.org/drawingml/2006/main">
              <a:ext uri="{FF2B5EF4-FFF2-40B4-BE49-F238E27FC236}">
                <a16:creationId xmlns:a16="http://schemas.microsoft.com/office/drawing/2014/main" id="{DBEC9B6B-B391-431A-9094-F725661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3528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attribution-reading-rule">
            <a:extLst xmlns:a="http://schemas.openxmlformats.org/drawingml/2006/main">
              <a:ext uri="{FF2B5EF4-FFF2-40B4-BE49-F238E27FC236}">
                <a16:creationId xmlns:a16="http://schemas.microsoft.com/office/drawing/2014/main" id="{5DDD417B-0BB8-4E39-8F62-77726D8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F62"/>
          </a:solidFill>
          <a:ln xmlns:a="http://schemas.openxmlformats.org/drawingml/2006/main" w="9525">
            <a:solidFill>
              <a:srgbClr val="3D8F62"/>
            </a:solidFill>
            <a:prstDash val="solid"/>
          </a:ln>
        </p:spPr>
      </p:sp>
      <p:sp>
        <p:nvSpPr>
          <p:cNvPr id="6" name="attribution-reading-heading">
            <a:extLst xmlns:a="http://schemas.openxmlformats.org/drawingml/2006/main">
              <a:ext uri="{FF2B5EF4-FFF2-40B4-BE49-F238E27FC236}">
                <a16:creationId xmlns:a16="http://schemas.microsoft.com/office/drawing/2014/main" id="{1AF5478B-D6A6-4A25-A5AD-C6507D38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F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F62"/>
                </a:solidFill>
                <a:latin typeface="Arial"/>
                <a:ea typeface="Arial"/>
                <a:cs typeface="Arial"/>
              </a:rPr>
              <a:t>READING</a:t>
            </a:r>
          </a:p>
        </p:txBody>
      </p:sp>
      <p:sp>
        <p:nvSpPr>
          <p:cNvPr id="7" name="attribution-reading-body">
            <a:extLst xmlns:a="http://schemas.openxmlformats.org/drawingml/2006/main">
              <a:ext uri="{FF2B5EF4-FFF2-40B4-BE49-F238E27FC236}">
                <a16:creationId xmlns:a16="http://schemas.microsoft.com/office/drawing/2014/main" id="{97956AE3-7F30-4CE6-A347-476A793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Paid Search ranks first under all six methods. Allocated revenue ranges from $119K to $123K—a 3.2% spread versus linear.</a:t>
            </a:r>
          </a:p>
        </p:txBody>
      </p:sp>
      <p:sp>
        <p:nvSpPr>
          <p:cNvPr id="8" name="attribution-action-box">
            <a:extLst xmlns:a="http://schemas.openxmlformats.org/drawingml/2006/main">
              <a:ext uri="{FF2B5EF4-FFF2-40B4-BE49-F238E27FC236}">
                <a16:creationId xmlns:a16="http://schemas.microsoft.com/office/drawing/2014/main" id="{165B9609-6B60-4247-A22D-405AD9D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3352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attribution-action-rule">
            <a:extLst xmlns:a="http://schemas.openxmlformats.org/drawingml/2006/main">
              <a:ext uri="{FF2B5EF4-FFF2-40B4-BE49-F238E27FC236}">
                <a16:creationId xmlns:a16="http://schemas.microsoft.com/office/drawing/2014/main" id="{33B788B0-736F-420B-ACFC-F5A7F78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attribution-action-heading">
            <a:extLst xmlns:a="http://schemas.openxmlformats.org/drawingml/2006/main">
              <a:ext uri="{FF2B5EF4-FFF2-40B4-BE49-F238E27FC236}">
                <a16:creationId xmlns:a16="http://schemas.microsoft.com/office/drawing/2014/main" id="{6AC1E6BB-77CD-4471-B8FD-B7C359F9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attribution-action-body">
            <a:extLst xmlns:a="http://schemas.openxmlformats.org/drawingml/2006/main">
              <a:ext uri="{FF2B5EF4-FFF2-40B4-BE49-F238E27FC236}">
                <a16:creationId xmlns:a16="http://schemas.microsoft.com/office/drawing/2014/main" id="{FFE5E386-78D8-4290-838D-B73CDDF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the stable rank, but disclose the sensitivity band. Attribution reallocates observed revenue; it does not prove causal lift.</a:t>
            </a:r>
          </a:p>
        </p:txBody>
      </p:sp>
    </p:spTree>
    <p:extLst>
      <p:ext uri="{BB962C8B-B14F-4D97-AF65-F5344CB8AC3E}">
        <p14:creationId xmlns:p14="http://schemas.microsoft.com/office/powerpoint/2010/main" val="141074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EAA9CDB-7A7A-480D-A68F-05FA937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Near-plan spend masks conflicting signals</a:t>
            </a:r>
          </a:p>
        </p:txBody>
      </p:sp>
      <p:sp>
        <p:nvSpPr>
          <p:cNvPr id="2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3042ED56-7CB9-4FD3-9D6F-A8A2231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7</a:t>
            </a:r>
          </a:p>
        </p:txBody>
      </p:sp>
      <p:sp>
        <p:nvSpPr>
          <p:cNvPr id="3" name="target-context">
            <a:extLst xmlns:a="http://schemas.openxmlformats.org/drawingml/2006/main">
              <a:ext uri="{FF2B5EF4-FFF2-40B4-BE49-F238E27FC236}">
                <a16:creationId xmlns:a16="http://schemas.microsoft.com/office/drawing/2014/main" id="{415E52C6-BC7B-4EB7-B676-8191E93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LATAM · Paid Search · selected target record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6762750" cy="3371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54250"/>
                <a:gridCol w="2254250"/>
                <a:gridCol w="2254250"/>
              </a:tblGrid>
              <a:tr h="6743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Attainment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Management reading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350"/>
                        <a:t>Spend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/>
                        <a:t>107.3%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Near plan / modestly over</a:t>
                      </a:r>
                    </a:p>
                  </a:txBody>
                  <a:tcPr marL="91440" marR="91440" marT="45720" marB="45720"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350"/>
                        <a:t>Attributed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/>
                        <a:t>14.6%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/>
                        <a:t>Material miss</a:t>
                      </a:r>
                    </a:p>
                  </a:txBody>
                  <a:tcPr marL="91440" marR="91440" marT="45720" marB="45720"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350"/>
                        <a:t>Leads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/>
                        <a:t>1.8%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/>
                        <a:t>Material miss</a:t>
                      </a:r>
                    </a:p>
                  </a:txBody>
                  <a:tcPr marL="91440" marR="91440" marT="45720" marB="45720"/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350"/>
                        <a:t>Platform conversions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/>
                        <a:t>1839.1%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/>
                        <a:t>Definition / join conflict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rget-so-box">
            <a:extLst xmlns:a="http://schemas.openxmlformats.org/drawingml/2006/main">
              <a:ext uri="{FF2B5EF4-FFF2-40B4-BE49-F238E27FC236}">
                <a16:creationId xmlns:a16="http://schemas.microsoft.com/office/drawing/2014/main" id="{D996161E-48C2-4BE9-A0EF-C74D696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386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6" name="target-so-rule">
            <a:extLst xmlns:a="http://schemas.openxmlformats.org/drawingml/2006/main">
              <a:ext uri="{FF2B5EF4-FFF2-40B4-BE49-F238E27FC236}">
                <a16:creationId xmlns:a16="http://schemas.microsoft.com/office/drawing/2014/main" id="{AAB0DB37-CAD8-49C6-899B-F47C9E6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7" name="target-so-heading">
            <a:extLst xmlns:a="http://schemas.openxmlformats.org/drawingml/2006/main">
              <a:ext uri="{FF2B5EF4-FFF2-40B4-BE49-F238E27FC236}">
                <a16:creationId xmlns:a16="http://schemas.microsoft.com/office/drawing/2014/main" id="{F93F0B0F-CF69-493F-8D02-75730C49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SO WHAT</a:t>
            </a:r>
          </a:p>
        </p:txBody>
      </p:sp>
      <p:sp>
        <p:nvSpPr>
          <p:cNvPr id="8" name="target-so-body">
            <a:extLst xmlns:a="http://schemas.openxmlformats.org/drawingml/2006/main">
              <a:ext uri="{FF2B5EF4-FFF2-40B4-BE49-F238E27FC236}">
                <a16:creationId xmlns:a16="http://schemas.microsoft.com/office/drawing/2014/main" id="{5DAF528F-E927-4477-83BA-33268C27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467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Revenue and lead attainment are extremely low, while platform conversions exceed target by more than ten times. The signals do not support one clean performance story.</a:t>
            </a:r>
          </a:p>
        </p:txBody>
      </p:sp>
      <p:sp>
        <p:nvSpPr>
          <p:cNvPr id="9" name="target-action-box">
            <a:extLst xmlns:a="http://schemas.openxmlformats.org/drawingml/2006/main">
              <a:ext uri="{FF2B5EF4-FFF2-40B4-BE49-F238E27FC236}">
                <a16:creationId xmlns:a16="http://schemas.microsoft.com/office/drawing/2014/main" id="{73018B51-508F-487C-8960-D9A9A5E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386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0" name="target-action-rule">
            <a:extLst xmlns:a="http://schemas.openxmlformats.org/drawingml/2006/main">
              <a:ext uri="{FF2B5EF4-FFF2-40B4-BE49-F238E27FC236}">
                <a16:creationId xmlns:a16="http://schemas.microsoft.com/office/drawing/2014/main" id="{37F1BD8A-D11B-480A-AB4D-11A6D0B4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target-action-heading">
            <a:extLst xmlns:a="http://schemas.openxmlformats.org/drawingml/2006/main">
              <a:ext uri="{FF2B5EF4-FFF2-40B4-BE49-F238E27FC236}">
                <a16:creationId xmlns:a16="http://schemas.microsoft.com/office/drawing/2014/main" id="{37962505-59E1-4B03-B665-B911453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2" name="target-action-body">
            <a:extLst xmlns:a="http://schemas.openxmlformats.org/drawingml/2006/main">
              <a:ext uri="{FF2B5EF4-FFF2-40B4-BE49-F238E27FC236}">
                <a16:creationId xmlns:a16="http://schemas.microsoft.com/office/drawing/2014/main" id="{A95C99F7-1CF2-4481-A442-3E373D2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346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Keep the recommendation on hold. Reconcile conversion definitions, joins, and target grain; then rerun the review.</a:t>
            </a:r>
          </a:p>
        </p:txBody>
      </p:sp>
    </p:spTree>
    <p:extLst>
      <p:ext uri="{BB962C8B-B14F-4D97-AF65-F5344CB8AC3E}">
        <p14:creationId xmlns:p14="http://schemas.microsoft.com/office/powerpoint/2010/main" val="39415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22BBF2D-306C-41C2-899D-E8E363FA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All simulated cases stay below 1.0x ROAS</a:t>
            </a:r>
          </a:p>
        </p:txBody>
      </p:sp>
      <p:sp>
        <p:nvSpPr>
          <p:cNvPr id="2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F0A87921-3B2C-4820-B754-A37AE78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c30d47308941e5"/>
          </a:graphicData>
        </a:graphic>
      </p:graphicFrame>
      <p:sp>
        <p:nvSpPr>
          <p:cNvPr id="4" name="scenario-what-box">
            <a:extLst xmlns:a="http://schemas.openxmlformats.org/drawingml/2006/main">
              <a:ext uri="{FF2B5EF4-FFF2-40B4-BE49-F238E27FC236}">
                <a16:creationId xmlns:a16="http://schemas.microsoft.com/office/drawing/2014/main" id="{EF0548EE-710D-410A-BC78-68702E9C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543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scenario-what-rule">
            <a:extLst xmlns:a="http://schemas.openxmlformats.org/drawingml/2006/main">
              <a:ext uri="{FF2B5EF4-FFF2-40B4-BE49-F238E27FC236}">
                <a16:creationId xmlns:a16="http://schemas.microsoft.com/office/drawing/2014/main" id="{C296D1FE-31D1-4B17-8B36-1C7FE9A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6" name="scenario-what-heading">
            <a:extLst xmlns:a="http://schemas.openxmlformats.org/drawingml/2006/main">
              <a:ext uri="{FF2B5EF4-FFF2-40B4-BE49-F238E27FC236}">
                <a16:creationId xmlns:a16="http://schemas.microsoft.com/office/drawing/2014/main" id="{5FCBE6BE-52B2-4E8D-996D-5B4EACE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EXPECTED CASE</a:t>
            </a:r>
          </a:p>
        </p:txBody>
      </p:sp>
      <p:sp>
        <p:nvSpPr>
          <p:cNvPr id="7" name="scenario-what-body">
            <a:extLst xmlns:a="http://schemas.openxmlformats.org/drawingml/2006/main">
              <a:ext uri="{FF2B5EF4-FFF2-40B4-BE49-F238E27FC236}">
                <a16:creationId xmlns:a16="http://schemas.microsoft.com/office/drawing/2014/main" id="{0FC7662F-FD3A-410C-9248-DD99EADC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70.8% of budget remains in paid social; projected ROAS is 0.18x and projected CAC is $20,172.</a:t>
            </a:r>
          </a:p>
        </p:txBody>
      </p:sp>
      <p:sp>
        <p:nvSpPr>
          <p:cNvPr id="8" name="scenario-action-box">
            <a:extLst xmlns:a="http://schemas.openxmlformats.org/drawingml/2006/main">
              <a:ext uri="{FF2B5EF4-FFF2-40B4-BE49-F238E27FC236}">
                <a16:creationId xmlns:a16="http://schemas.microsoft.com/office/drawing/2014/main" id="{F18205CC-24DC-4B3C-B84B-FC07CF2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543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scenario-action-rule">
            <a:extLst xmlns:a="http://schemas.openxmlformats.org/drawingml/2006/main">
              <a:ext uri="{FF2B5EF4-FFF2-40B4-BE49-F238E27FC236}">
                <a16:creationId xmlns:a16="http://schemas.microsoft.com/office/drawing/2014/main" id="{A8AA1022-B38B-4A5E-B9DF-D8DBFE5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scenario-action-heading">
            <a:extLst xmlns:a="http://schemas.openxmlformats.org/drawingml/2006/main">
              <a:ext uri="{FF2B5EF4-FFF2-40B4-BE49-F238E27FC236}">
                <a16:creationId xmlns:a16="http://schemas.microsoft.com/office/drawing/2014/main" id="{DDCF8D5E-DF70-4A4B-9D2E-F5FC20C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scenario-action-body">
            <a:extLst xmlns:a="http://schemas.openxmlformats.org/drawingml/2006/main">
              <a:ext uri="{FF2B5EF4-FFF2-40B4-BE49-F238E27FC236}">
                <a16:creationId xmlns:a16="http://schemas.microsoft.com/office/drawing/2014/main" id="{F16E10C7-3B32-4B06-8ECC-FCD71D1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Review concentration and funnel assumptions. This WHAT-IF is not an optimizer, forecast, causal estimate, or live-budget instruction.</a:t>
            </a:r>
          </a:p>
        </p:txBody>
      </p:sp>
    </p:spTree>
    <p:extLst>
      <p:ext uri="{BB962C8B-B14F-4D97-AF65-F5344CB8AC3E}">
        <p14:creationId xmlns:p14="http://schemas.microsoft.com/office/powerpoint/2010/main" val="293956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A6DE687-A924-420B-B4B7-835F0DB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Source failures require a manual release hold</a:t>
            </a:r>
          </a:p>
        </p:txBody>
      </p:sp>
      <p:sp>
        <p:nvSpPr>
          <p:cNvPr id="2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877C3246-5730-4F17-9787-AE5C81BA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1489e34a9b409a"/>
          </a:graphicData>
        </a:graphic>
      </p:graphicFrame>
      <p:sp>
        <p:nvSpPr>
          <p:cNvPr id="4" name="failures-panel">
            <a:extLst xmlns:a="http://schemas.openxmlformats.org/drawingml/2006/main">
              <a:ext uri="{FF2B5EF4-FFF2-40B4-BE49-F238E27FC236}">
                <a16:creationId xmlns:a16="http://schemas.microsoft.com/office/drawing/2014/main" id="{C4519F9E-00A6-4BED-8470-33CB01E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04950"/>
            <a:ext cx="18478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failures-accent">
            <a:extLst xmlns:a="http://schemas.openxmlformats.org/drawingml/2006/main">
              <a:ext uri="{FF2B5EF4-FFF2-40B4-BE49-F238E27FC236}">
                <a16:creationId xmlns:a16="http://schemas.microsoft.com/office/drawing/2014/main" id="{4ECA3D72-71C6-4A42-A35A-107621E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0495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9525">
            <a:solidFill>
              <a:srgbClr val="C94C4C"/>
            </a:solidFill>
            <a:prstDash val="solid"/>
          </a:ln>
        </p:spPr>
      </p:sp>
      <p:sp>
        <p:nvSpPr>
          <p:cNvPr id="6" name="failures-value">
            <a:extLst xmlns:a="http://schemas.openxmlformats.org/drawingml/2006/main">
              <a:ext uri="{FF2B5EF4-FFF2-40B4-BE49-F238E27FC236}">
                <a16:creationId xmlns:a16="http://schemas.microsoft.com/office/drawing/2014/main" id="{D4D857D3-6158-45E0-BE81-C577226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28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failures-label">
            <a:extLst xmlns:a="http://schemas.openxmlformats.org/drawingml/2006/main">
              <a:ext uri="{FF2B5EF4-FFF2-40B4-BE49-F238E27FC236}">
                <a16:creationId xmlns:a16="http://schemas.microsoft.com/office/drawing/2014/main" id="{404935B8-90D3-4F96-953B-7FA1FE5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paid-source error states</a:t>
            </a:r>
          </a:p>
        </p:txBody>
      </p:sp>
      <p:sp>
        <p:nvSpPr>
          <p:cNvPr id="8" name="auto-holds-panel">
            <a:extLst xmlns:a="http://schemas.openxmlformats.org/drawingml/2006/main">
              <a:ext uri="{FF2B5EF4-FFF2-40B4-BE49-F238E27FC236}">
                <a16:creationId xmlns:a16="http://schemas.microsoft.com/office/drawing/2014/main" id="{8F3484B1-83B9-47D8-BC48-DE87FD47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18478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9" name="auto-holds-accent">
            <a:extLst xmlns:a="http://schemas.openxmlformats.org/drawingml/2006/main">
              <a:ext uri="{FF2B5EF4-FFF2-40B4-BE49-F238E27FC236}">
                <a16:creationId xmlns:a16="http://schemas.microsoft.com/office/drawing/2014/main" id="{44BEBA86-983B-4FD6-AE2F-7B44F9F0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10" name="auto-holds-value">
            <a:extLst xmlns:a="http://schemas.openxmlformats.org/drawingml/2006/main">
              <a:ext uri="{FF2B5EF4-FFF2-40B4-BE49-F238E27FC236}">
                <a16:creationId xmlns:a16="http://schemas.microsoft.com/office/drawing/2014/main" id="{082883C6-2447-4D81-B8E1-1405B2B1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0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auto-holds-label">
            <a:extLst xmlns:a="http://schemas.openxmlformats.org/drawingml/2006/main">
              <a:ext uri="{FF2B5EF4-FFF2-40B4-BE49-F238E27FC236}">
                <a16:creationId xmlns:a16="http://schemas.microsoft.com/office/drawing/2014/main" id="{74CD3B87-07A3-405D-877B-5BD6D64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670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automatic campaign holds</a:t>
            </a:r>
          </a:p>
        </p:txBody>
      </p:sp>
      <p:sp>
        <p:nvSpPr>
          <p:cNvPr id="12" name="quality-action-box">
            <a:extLst xmlns:a="http://schemas.openxmlformats.org/drawingml/2006/main">
              <a:ext uri="{FF2B5EF4-FFF2-40B4-BE49-F238E27FC236}">
                <a16:creationId xmlns:a16="http://schemas.microsoft.com/office/drawing/2014/main" id="{96A8EF5C-1A26-4AB4-9F86-3E1243E6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3981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3" name="quality-action-rule">
            <a:extLst xmlns:a="http://schemas.openxmlformats.org/drawingml/2006/main">
              <a:ext uri="{FF2B5EF4-FFF2-40B4-BE49-F238E27FC236}">
                <a16:creationId xmlns:a16="http://schemas.microsoft.com/office/drawing/2014/main" id="{23A2D790-0D37-4F21-B2F7-15E44210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9525">
            <a:solidFill>
              <a:srgbClr val="C94C4C"/>
            </a:solidFill>
            <a:prstDash val="solid"/>
          </a:ln>
        </p:spPr>
      </p:sp>
      <p:sp>
        <p:nvSpPr>
          <p:cNvPr id="14" name="quality-action-heading">
            <a:extLst xmlns:a="http://schemas.openxmlformats.org/drawingml/2006/main">
              <a:ext uri="{FF2B5EF4-FFF2-40B4-BE49-F238E27FC236}">
                <a16:creationId xmlns:a16="http://schemas.microsoft.com/office/drawing/2014/main" id="{F48ACAF6-4924-48AF-BE80-988BC16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RELEASE DECISION</a:t>
            </a:r>
          </a:p>
        </p:txBody>
      </p:sp>
      <p:sp>
        <p:nvSpPr>
          <p:cNvPr id="15" name="quality-action-body">
            <a:extLst xmlns:a="http://schemas.openxmlformats.org/drawingml/2006/main">
              <a:ext uri="{FF2B5EF4-FFF2-40B4-BE49-F238E27FC236}">
                <a16:creationId xmlns:a16="http://schemas.microsoft.com/office/drawing/2014/main" id="{3F70714A-A7BD-4F81-94C7-403206D5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58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Hold paid-media recommendations until failed source checks are resolved or accepted and monitoring is rerun.</a:t>
            </a:r>
          </a:p>
        </p:txBody>
      </p:sp>
    </p:spTree>
    <p:extLst>
      <p:ext uri="{BB962C8B-B14F-4D97-AF65-F5344CB8AC3E}">
        <p14:creationId xmlns:p14="http://schemas.microsoft.com/office/powerpoint/2010/main" val="1767602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8FAE6B9-8C12-4E7B-8E28-559A2A22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Resolve trust first, then review performance</a:t>
            </a:r>
          </a:p>
        </p:txBody>
      </p:sp>
      <p:sp>
        <p:nvSpPr>
          <p:cNvPr id="2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9673B73B-9DFA-4363-87A0-A37620B7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MODELED PORTFOLIO CASE STUDY   10</a:t>
            </a:r>
          </a:p>
        </p:txBody>
      </p:sp>
      <p:sp>
        <p:nvSpPr>
          <p:cNvPr id="3" name="actions-sequence">
            <a:extLst xmlns:a="http://schemas.openxmlformats.org/drawingml/2006/main">
              <a:ext uri="{FF2B5EF4-FFF2-40B4-BE49-F238E27FC236}">
                <a16:creationId xmlns:a16="http://schemas.microsoft.com/office/drawing/2014/main" id="{9392AEDF-E92F-4193-9FF1-CFD1805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actions-one">
            <a:extLst xmlns:a="http://schemas.openxmlformats.org/drawingml/2006/main">
              <a:ext uri="{FF2B5EF4-FFF2-40B4-BE49-F238E27FC236}">
                <a16:creationId xmlns:a16="http://schemas.microsoft.com/office/drawing/2014/main" id="{D9220296-7943-40B8-81F0-1D2CABBB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Hold paid-media actions</a:t>
            </a:r>
          </a:p>
        </p:txBody>
      </p:sp>
      <p:sp>
        <p:nvSpPr>
          <p:cNvPr id="5" name="actions-one-body">
            <a:extLst xmlns:a="http://schemas.openxmlformats.org/drawingml/2006/main">
              <a:ext uri="{FF2B5EF4-FFF2-40B4-BE49-F238E27FC236}">
                <a16:creationId xmlns:a16="http://schemas.microsoft.com/office/drawing/2014/main" id="{AE099FFD-9E3E-4A64-A5A3-229B4B1A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Resolve or formally accept source-contract failures and rerun monitoring.</a:t>
            </a:r>
          </a:p>
        </p:txBody>
      </p:sp>
      <p:sp>
        <p:nvSpPr>
          <p:cNvPr id="6" name="actions-sequence-2">
            <a:extLst xmlns:a="http://schemas.openxmlformats.org/drawingml/2006/main">
              <a:ext uri="{FF2B5EF4-FFF2-40B4-BE49-F238E27FC236}">
                <a16:creationId xmlns:a16="http://schemas.microsoft.com/office/drawing/2014/main" id="{8E7E9E62-8A0A-4E54-866D-2B6ACE9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actions-two">
            <a:extLst xmlns:a="http://schemas.openxmlformats.org/drawingml/2006/main">
              <a:ext uri="{FF2B5EF4-FFF2-40B4-BE49-F238E27FC236}">
                <a16:creationId xmlns:a16="http://schemas.microsoft.com/office/drawing/2014/main" id="{1349FBE5-6153-4EEE-8D71-2F564C31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Reconcile definitions</a:t>
            </a:r>
          </a:p>
        </p:txBody>
      </p:sp>
      <p:sp>
        <p:nvSpPr>
          <p:cNvPr id="8" name="actions-two-body">
            <a:extLst xmlns:a="http://schemas.openxmlformats.org/drawingml/2006/main">
              <a:ext uri="{FF2B5EF4-FFF2-40B4-BE49-F238E27FC236}">
                <a16:creationId xmlns:a16="http://schemas.microsoft.com/office/drawing/2014/main" id="{3CBE5B91-D212-48C0-95EA-F21D59E4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Trace platform conversions to leads, attributed revenue, target grain, and campaign mapping.</a:t>
            </a:r>
          </a:p>
        </p:txBody>
      </p:sp>
      <p:sp>
        <p:nvSpPr>
          <p:cNvPr id="9" name="actions-sequence-3">
            <a:extLst xmlns:a="http://schemas.openxmlformats.org/drawingml/2006/main">
              <a:ext uri="{FF2B5EF4-FFF2-40B4-BE49-F238E27FC236}">
                <a16:creationId xmlns:a16="http://schemas.microsoft.com/office/drawing/2014/main" id="{2CF3CFA4-183A-430B-AF41-38C6B8CB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actions-three">
            <a:extLst xmlns:a="http://schemas.openxmlformats.org/drawingml/2006/main">
              <a:ext uri="{FF2B5EF4-FFF2-40B4-BE49-F238E27FC236}">
                <a16:creationId xmlns:a16="http://schemas.microsoft.com/office/drawing/2014/main" id="{73F108C1-8DD7-46BE-BFD7-06253AE7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Review campaigns and funnel</a:t>
            </a:r>
          </a:p>
        </p:txBody>
      </p:sp>
      <p:sp>
        <p:nvSpPr>
          <p:cNvPr id="11" name="actions-three-body">
            <a:extLst xmlns:a="http://schemas.openxmlformats.org/drawingml/2006/main">
              <a:ext uri="{FF2B5EF4-FFF2-40B4-BE49-F238E27FC236}">
                <a16:creationId xmlns:a16="http://schemas.microsoft.com/office/drawing/2014/main" id="{15D7654D-0ED1-49F6-8126-75513151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Prioritize portfolio-wide campaign diagnostics and paid-social lead qualification.</a:t>
            </a:r>
          </a:p>
        </p:txBody>
      </p:sp>
      <p:sp>
        <p:nvSpPr>
          <p:cNvPr id="12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26CD55FF-044C-4E9F-8F42-2A327FF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53911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13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05B5D0D9-4B9C-4890-A51A-CEA5E195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95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Evidence boundaries</a:t>
            </a:r>
          </a:p>
        </p:txBody>
      </p:sp>
      <p:sp>
        <p:nvSpPr>
          <p:cNvPr id="14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B29825FC-8966-43B9-A8A6-10DDE4D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4476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Generated/synthetic marketing business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Bounded real portfolio-site GA4 remains separate and unused here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Attribution is allocation—not causal lift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Budget outputs are SIMULATED / WHAT-IF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No real approval, ad execution, realized impact, Power BI Service deployment, or production SLA</a:t>
            </a:r>
          </a:p>
        </p:txBody>
      </p:sp>
    </p:spTree>
    <p:extLst>
      <p:ext uri="{BB962C8B-B14F-4D97-AF65-F5344CB8AC3E}">
        <p14:creationId xmlns:p14="http://schemas.microsoft.com/office/powerpoint/2010/main" val="125019903"/>
      </p:ext>
    </p:extLst>
  </p:cSld>
</p:sld>
</file>

<file path=ppt/theme/theme1.xml><?xml version="1.0" encoding="utf-8"?>
<a:theme xmlns:a="http://schemas.openxmlformats.org/drawingml/2006/main" name="Portfolio Editorial">
  <a:themeElements>
    <a:clrScheme name="Portfolio Editorial">
      <a:dk1>
        <a:srgbClr val="000000"/>
      </a:dk1>
      <a:lt1>
        <a:srgbClr val="FFFFFF"/>
      </a:lt1>
      <a:dk2>
        <a:srgbClr val="172B4D"/>
      </a:dk2>
      <a:lt2>
        <a:srgbClr val="F1F3F5"/>
      </a:lt2>
      <a:accent1>
        <a:srgbClr val="2F80ED"/>
      </a:accent1>
      <a:accent2>
        <a:srgbClr val="F2994A"/>
      </a:accent2>
      <a:accent3>
        <a:srgbClr val="3D8F62"/>
      </a:accent3>
      <a:accent4>
        <a:srgbClr val="6DCBF4"/>
      </a:accent4>
      <a:accent5>
        <a:srgbClr val="C94C4C"/>
      </a:accent5>
      <a:accent6>
        <a:srgbClr val="5E6C84"/>
      </a:accent6>
      <a:hlink>
        <a:srgbClr val="2F80ED"/>
      </a:hlink>
      <a:folHlink>
        <a:srgbClr val="6B4EA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tfolio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2026-09-03T03:25:16.8790000Z</dcterms:created>
  <dcterms:modified xsi:type="dcterms:W3CDTF">2026-09-03T03:25:16.8790000Z</dcterms:modified>
</coreProperties>
</file>